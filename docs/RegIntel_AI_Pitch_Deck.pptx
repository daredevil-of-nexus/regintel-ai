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77800" dist="50800" dir="16200000">
              <a:srgbClr val="0E7490">
                <a:alpha val="55000"/>
              </a:srgbClr>
            </a:outerShdw>
          </a:effectLst>
        </p:spPr>
      </p:sp>
      <p:pic>
        <p:nvPicPr>
          <p:cNvPr id="3" name="Image 0" descr="/home/claude/regintel_ppt/assets/logo_shield_FFFFFF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RegIntel AI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02920" y="1207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 CYBER HACKATHON 2026  ·  TEAM THE WISE PEOPLE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" y="1481328"/>
            <a:ext cx="7040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Agentic</a:t>
            </a:r>
            <a:endParaRPr lang="en-US" sz="3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Shield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502920" y="2907792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offline-first AI compliance copilot that ingests regulatory circulars, extracts measurable action points, and enforces bank-grade cybersecurity compliance — autonomously.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358444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“The Wise People”  —  </a:t>
            </a:r>
            <a:pPr indent="0" marL="0"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Bharti, Madhav Mittal, Jaskeerat Singh, Krishna Mittal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38404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Year B.Tech, Computer Science Engineering — Delhi Technological University (DTU)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99248" y="457200"/>
            <a:ext cx="3959352" cy="1078992"/>
          </a:xfrm>
          <a:prstGeom prst="roundRect">
            <a:avLst>
              <a:gd name="adj" fmla="val 8475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36992" y="566928"/>
            <a:ext cx="3566160" cy="5442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36992" y="1093622"/>
            <a:ext cx="35661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pages/hr ingestion design throughput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699248" y="1682496"/>
            <a:ext cx="3959352" cy="1078992"/>
          </a:xfrm>
          <a:prstGeom prst="roundRect">
            <a:avLst>
              <a:gd name="adj" fmla="val 8475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36992" y="1792224"/>
            <a:ext cx="3566160" cy="5442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B4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936992" y="2318918"/>
            <a:ext cx="35661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semantic extraction accuracy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99248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99248" y="3218688"/>
            <a:ext cx="1258824" cy="384048"/>
          </a:xfrm>
          <a:prstGeom prst="roundRect">
            <a:avLst>
              <a:gd name="adj" fmla="val 16667"/>
            </a:avLst>
          </a:prstGeom>
          <a:solidFill>
            <a:srgbClr val="0D1430"/>
          </a:solidFill>
          <a:ln w="9525">
            <a:solidFill>
              <a:srgbClr val="232F58"/>
            </a:solidFill>
            <a:prstDash val="solid"/>
          </a:ln>
        </p:spPr>
      </p:sp>
      <p:pic>
        <p:nvPicPr>
          <p:cNvPr id="18" name="Image 1" descr="/home/claude/regintel_ppt/assets/chip_FastAPI_22D3EE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3322381"/>
            <a:ext cx="176662" cy="17666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77078" y="3218688"/>
            <a:ext cx="78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9049512" y="3218688"/>
            <a:ext cx="1258824" cy="384048"/>
          </a:xfrm>
          <a:prstGeom prst="roundRect">
            <a:avLst>
              <a:gd name="adj" fmla="val 16667"/>
            </a:avLst>
          </a:prstGeom>
          <a:solidFill>
            <a:srgbClr val="0D1430"/>
          </a:solidFill>
          <a:ln w="9525">
            <a:solidFill>
              <a:srgbClr val="232F58"/>
            </a:solidFill>
            <a:prstDash val="solid"/>
          </a:ln>
        </p:spPr>
      </p:sp>
      <p:pic>
        <p:nvPicPr>
          <p:cNvPr id="21" name="Image 2" descr="/home/claude/regintel_ppt/assets/chip_ReactVite_22D3EE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40" y="3322381"/>
            <a:ext cx="176662" cy="1766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27342" y="3218688"/>
            <a:ext cx="78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0399776" y="3218688"/>
            <a:ext cx="1258824" cy="384048"/>
          </a:xfrm>
          <a:prstGeom prst="roundRect">
            <a:avLst>
              <a:gd name="adj" fmla="val 16667"/>
            </a:avLst>
          </a:prstGeom>
          <a:solidFill>
            <a:srgbClr val="0D1430"/>
          </a:solidFill>
          <a:ln w="9525">
            <a:solidFill>
              <a:srgbClr val="232F58"/>
            </a:solidFill>
            <a:prstDash val="solid"/>
          </a:ln>
        </p:spPr>
      </p:sp>
      <p:pic>
        <p:nvPicPr>
          <p:cNvPr id="24" name="Image 3" descr="/home/claude/regintel_ppt/assets/chip_GraphEngine_22D3EE_25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504" y="3322381"/>
            <a:ext cx="176662" cy="1766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77606" y="3218688"/>
            <a:ext cx="78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699248" y="3685032"/>
            <a:ext cx="1258824" cy="384048"/>
          </a:xfrm>
          <a:prstGeom prst="roundRect">
            <a:avLst>
              <a:gd name="adj" fmla="val 16667"/>
            </a:avLst>
          </a:prstGeom>
          <a:solidFill>
            <a:srgbClr val="0D1430"/>
          </a:solidFill>
          <a:ln w="9525">
            <a:solidFill>
              <a:srgbClr val="232F58"/>
            </a:solidFill>
            <a:prstDash val="solid"/>
          </a:ln>
        </p:spPr>
      </p:sp>
      <p:pic>
        <p:nvPicPr>
          <p:cNvPr id="27" name="Image 4" descr="/home/claude/regintel_ppt/assets/chip_PostgreSQL_22D3EE_25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76" y="3788725"/>
            <a:ext cx="176662" cy="1766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77078" y="3685032"/>
            <a:ext cx="78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9049512" y="3685032"/>
            <a:ext cx="1258824" cy="384048"/>
          </a:xfrm>
          <a:prstGeom prst="roundRect">
            <a:avLst>
              <a:gd name="adj" fmla="val 16667"/>
            </a:avLst>
          </a:prstGeom>
          <a:solidFill>
            <a:srgbClr val="0D1430"/>
          </a:solidFill>
          <a:ln w="9525">
            <a:solidFill>
              <a:srgbClr val="232F58"/>
            </a:solidFill>
            <a:prstDash val="solid"/>
          </a:ln>
        </p:spPr>
      </p:sp>
      <p:pic>
        <p:nvPicPr>
          <p:cNvPr id="30" name="Image 5" descr="/home/claude/regintel_ppt/assets/chip_LLaMA3_22D3EE_25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9240" y="3788725"/>
            <a:ext cx="176662" cy="1766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427342" y="3685032"/>
            <a:ext cx="78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10399776" y="3685032"/>
            <a:ext cx="1258824" cy="384048"/>
          </a:xfrm>
          <a:prstGeom prst="roundRect">
            <a:avLst>
              <a:gd name="adj" fmla="val 16667"/>
            </a:avLst>
          </a:prstGeom>
          <a:solidFill>
            <a:srgbClr val="0D1430"/>
          </a:solidFill>
          <a:ln w="9525">
            <a:solidFill>
              <a:srgbClr val="232F58"/>
            </a:solidFill>
            <a:prstDash val="solid"/>
          </a:ln>
        </p:spPr>
      </p:sp>
      <p:pic>
        <p:nvPicPr>
          <p:cNvPr id="33" name="Image 6" descr="/home/claude/regintel_ppt/assets/chip_GeminiAPI_22D3EE_25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504" y="3788725"/>
            <a:ext cx="176662" cy="17666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777606" y="3685032"/>
            <a:ext cx="78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02920" y="4370832"/>
            <a:ext cx="11183112" cy="2121408"/>
          </a:xfrm>
          <a:prstGeom prst="roundRect">
            <a:avLst>
              <a:gd name="adj" fmla="val 4310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82296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FLOW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2960" y="493776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1732788" y="5102352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9" name="Image 7" descr="/home/claude/regintel_ppt/assets/flow1_0_FFFFFF_25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0804" y="5230368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14400" y="5687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Uploads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(PDF)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3191256" y="5646420"/>
            <a:ext cx="33223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2" name="Shape 32"/>
          <p:cNvSpPr/>
          <p:nvPr/>
        </p:nvSpPr>
        <p:spPr>
          <a:xfrm>
            <a:off x="3560064" y="493776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4469892" y="51023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4" name="Image 8" descr="/home/claude/regintel_ppt/assets/flow1_1_FFFFFF_25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908" y="5230368"/>
            <a:ext cx="256032" cy="25603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651504" y="5687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46" name="Shape 35"/>
          <p:cNvSpPr/>
          <p:nvPr/>
        </p:nvSpPr>
        <p:spPr>
          <a:xfrm>
            <a:off x="5928360" y="5646420"/>
            <a:ext cx="33223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7" name="Shape 36"/>
          <p:cNvSpPr/>
          <p:nvPr/>
        </p:nvSpPr>
        <p:spPr>
          <a:xfrm>
            <a:off x="6297168" y="493776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7206996" y="5102352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9" name="Image 9" descr="/home/claude/regintel_ppt/assets/flow1_2_FFFFFF_25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012" y="5230368"/>
            <a:ext cx="256032" cy="25603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388608" y="5687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Graph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51" name="Shape 39"/>
          <p:cNvSpPr/>
          <p:nvPr/>
        </p:nvSpPr>
        <p:spPr>
          <a:xfrm>
            <a:off x="8665464" y="5646420"/>
            <a:ext cx="332232" cy="0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2" name="Shape 40"/>
          <p:cNvSpPr/>
          <p:nvPr/>
        </p:nvSpPr>
        <p:spPr>
          <a:xfrm>
            <a:off x="9034272" y="493776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9944100" y="510235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4" name="Image 10" descr="/home/claude/regintel_ppt/assets/flow1_3_FFFFFF_25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72116" y="5230368"/>
            <a:ext cx="256032" cy="256032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9125712" y="5687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Shield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pic>
        <p:nvPicPr>
          <p:cNvPr id="56" name="Image 11" descr="/home/claude/regintel_ppt/assets/footer_shield_5C6690_256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" y="6547104"/>
            <a:ext cx="164592" cy="164592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731520" y="6519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AI  ·  Raksha Cyber Hackathon</a:t>
            </a:r>
            <a:endParaRPr lang="en-US" sz="900" dirty="0"/>
          </a:p>
        </p:txBody>
      </p:sp>
      <p:sp>
        <p:nvSpPr>
          <p:cNvPr id="58" name="Text 44"/>
          <p:cNvSpPr/>
          <p:nvPr/>
        </p:nvSpPr>
        <p:spPr>
          <a:xfrm>
            <a:off x="10789920" y="6519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Architecture &amp; Scalability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6355080" cy="4645152"/>
          </a:xfrm>
          <a:prstGeom prst="roundRect">
            <a:avLst>
              <a:gd name="adj" fmla="val 1969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353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GRAPH ORCHESTRATOR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" y="159105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Finite-state execution graph — replaces rigid LangChain pipelines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16152" y="181051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38528"/>
            <a:ext cx="0" cy="128016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45920" y="2103120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92224" y="2304288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0" descr="/home/claude/regintel_ppt/assets/state_0_FFFFFF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2414016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340864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Node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40864" y="24871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clauses from raw circular text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74920" y="2523744"/>
            <a:ext cx="91440" cy="0"/>
          </a:xfrm>
          <a:prstGeom prst="line">
            <a:avLst/>
          </a:prstGeom>
          <a:noFill/>
          <a:ln w="12700">
            <a:solidFill>
              <a:srgbClr val="F5B85B"/>
            </a:solidFill>
            <a:prstDash val="dash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1280160" y="2944368"/>
            <a:ext cx="0" cy="146304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645920" y="309067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92224" y="329184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1" descr="/home/claude/regintel_ppt/assets/state_1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340156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340864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Node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340864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Measurable Action Points from each clause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074920" y="3511296"/>
            <a:ext cx="91440" cy="0"/>
          </a:xfrm>
          <a:prstGeom prst="line">
            <a:avLst/>
          </a:prstGeom>
          <a:noFill/>
          <a:ln w="12700">
            <a:solidFill>
              <a:srgbClr val="F5B85B"/>
            </a:solidFill>
            <a:prstDash val="dash"/>
            <a:tailEnd type="none"/>
          </a:ln>
        </p:spPr>
      </p:sp>
      <p:sp>
        <p:nvSpPr>
          <p:cNvPr id="22" name="Shape 18"/>
          <p:cNvSpPr/>
          <p:nvPr/>
        </p:nvSpPr>
        <p:spPr>
          <a:xfrm>
            <a:off x="1280160" y="3931920"/>
            <a:ext cx="0" cy="146304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1645920" y="4078224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792224" y="4279392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5" name="Image 2" descr="/home/claude/regintel_ppt/assets/state_2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438912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340864" y="41696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Node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2340864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obligations to the responsible department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74920" y="4498848"/>
            <a:ext cx="91440" cy="0"/>
          </a:xfrm>
          <a:prstGeom prst="line">
            <a:avLst/>
          </a:prstGeom>
          <a:noFill/>
          <a:ln w="12700">
            <a:solidFill>
              <a:srgbClr val="F5B85B"/>
            </a:solidFill>
            <a:prstDash val="dash"/>
            <a:tailEnd type="none"/>
          </a:ln>
        </p:spPr>
      </p:sp>
      <p:sp>
        <p:nvSpPr>
          <p:cNvPr id="29" name="Shape 24"/>
          <p:cNvSpPr/>
          <p:nvPr/>
        </p:nvSpPr>
        <p:spPr>
          <a:xfrm>
            <a:off x="1280160" y="4919472"/>
            <a:ext cx="0" cy="146304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1645920" y="5065776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792224" y="5266944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2" name="Image 3" descr="/home/claude/regintel_ppt/assets/state_3_FFFFFF_25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952" y="537667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340864" y="51572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Node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2340864" y="544982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schema integrity before commit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074920" y="5486400"/>
            <a:ext cx="91440" cy="0"/>
          </a:xfrm>
          <a:prstGeom prst="line">
            <a:avLst/>
          </a:prstGeom>
          <a:noFill/>
          <a:ln w="12700">
            <a:solidFill>
              <a:srgbClr val="F5B85B"/>
            </a:solidFill>
            <a:prstDash val="dash"/>
            <a:tailEnd type="none"/>
          </a:ln>
        </p:spPr>
      </p:sp>
      <p:sp>
        <p:nvSpPr>
          <p:cNvPr id="36" name="Shape 30"/>
          <p:cNvSpPr/>
          <p:nvPr/>
        </p:nvSpPr>
        <p:spPr>
          <a:xfrm>
            <a:off x="1280160" y="5907024"/>
            <a:ext cx="0" cy="201168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1216152" y="61081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Shape 32"/>
          <p:cNvSpPr/>
          <p:nvPr/>
        </p:nvSpPr>
        <p:spPr>
          <a:xfrm>
            <a:off x="1280160" y="2523744"/>
            <a:ext cx="365760" cy="0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none"/>
          </a:ln>
        </p:spPr>
      </p:sp>
      <p:sp>
        <p:nvSpPr>
          <p:cNvPr id="39" name="Shape 33"/>
          <p:cNvSpPr/>
          <p:nvPr/>
        </p:nvSpPr>
        <p:spPr>
          <a:xfrm>
            <a:off x="1280160" y="3511296"/>
            <a:ext cx="365760" cy="0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none"/>
          </a:ln>
        </p:spPr>
      </p:sp>
      <p:sp>
        <p:nvSpPr>
          <p:cNvPr id="40" name="Shape 34"/>
          <p:cNvSpPr/>
          <p:nvPr/>
        </p:nvSpPr>
        <p:spPr>
          <a:xfrm>
            <a:off x="1280160" y="4498848"/>
            <a:ext cx="365760" cy="0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none"/>
          </a:ln>
        </p:spPr>
      </p:sp>
      <p:sp>
        <p:nvSpPr>
          <p:cNvPr id="41" name="Shape 35"/>
          <p:cNvSpPr/>
          <p:nvPr/>
        </p:nvSpPr>
        <p:spPr>
          <a:xfrm>
            <a:off x="1280160" y="5486400"/>
            <a:ext cx="365760" cy="0"/>
          </a:xfrm>
          <a:prstGeom prst="line">
            <a:avLst/>
          </a:prstGeom>
          <a:noFill/>
          <a:ln w="15875">
            <a:solidFill>
              <a:srgbClr val="97A2C7"/>
            </a:solidFill>
            <a:prstDash val="solid"/>
            <a:tailEnd type="none"/>
          </a:ln>
        </p:spPr>
      </p:sp>
      <p:sp>
        <p:nvSpPr>
          <p:cNvPr id="42" name="Shape 36"/>
          <p:cNvSpPr/>
          <p:nvPr/>
        </p:nvSpPr>
        <p:spPr>
          <a:xfrm>
            <a:off x="5166360" y="4946904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2A1B12"/>
          </a:solidFill>
          <a:ln w="12700">
            <a:solidFill>
              <a:srgbClr val="F5B85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257800" y="5056632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44" name="Image 4" descr="/home/claude/regintel_ppt/assets/errstate_FFFFFF_25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812" y="5152644"/>
            <a:ext cx="192024" cy="19202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678424" y="49834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5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5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+ Route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166360" y="2523744"/>
            <a:ext cx="0" cy="2423160"/>
          </a:xfrm>
          <a:prstGeom prst="line">
            <a:avLst/>
          </a:prstGeom>
          <a:noFill/>
          <a:ln w="12700">
            <a:solidFill>
              <a:srgbClr val="F5B85B"/>
            </a:solidFill>
            <a:prstDash val="dash"/>
            <a:tailEnd type="triangle"/>
          </a:ln>
        </p:spPr>
      </p:sp>
      <p:sp>
        <p:nvSpPr>
          <p:cNvPr id="47" name="Shape 40"/>
          <p:cNvSpPr/>
          <p:nvPr/>
        </p:nvSpPr>
        <p:spPr>
          <a:xfrm>
            <a:off x="7040880" y="1170432"/>
            <a:ext cx="4645152" cy="2121408"/>
          </a:xfrm>
          <a:prstGeom prst="roundRect">
            <a:avLst>
              <a:gd name="adj" fmla="val 4310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7296912" y="1335024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DUAL-LLM TRANSPARENT FAILOVER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7296912" y="156362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offline-first, auto fail-safe to cloud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7296912" y="2011680"/>
            <a:ext cx="1746504" cy="960120"/>
          </a:xfrm>
          <a:prstGeom prst="roundRect">
            <a:avLst>
              <a:gd name="adj" fmla="val 7619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7950708" y="2121408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52" name="Image 5" descr="/home/claude/regintel_ppt/assets/ollama_FFFFFF_25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436" y="2231136"/>
            <a:ext cx="219456" cy="219456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7296912" y="259689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· LLaVA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9098280" y="2491740"/>
            <a:ext cx="530352" cy="0"/>
          </a:xfrm>
          <a:prstGeom prst="line">
            <a:avLst/>
          </a:prstGeom>
          <a:noFill/>
          <a:ln w="19050">
            <a:solidFill>
              <a:srgbClr val="F5B85B"/>
            </a:solidFill>
            <a:prstDash val="dash"/>
            <a:tailEnd type="triangle"/>
          </a:ln>
        </p:spPr>
      </p:sp>
      <p:sp>
        <p:nvSpPr>
          <p:cNvPr id="55" name="Text 47"/>
          <p:cNvSpPr/>
          <p:nvPr/>
        </p:nvSpPr>
        <p:spPr>
          <a:xfrm>
            <a:off x="9043416" y="177393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F5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F5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9683496" y="2011680"/>
            <a:ext cx="1746504" cy="960120"/>
          </a:xfrm>
          <a:prstGeom prst="roundRect">
            <a:avLst>
              <a:gd name="adj" fmla="val 7619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0337292" y="2121408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8" name="Image 6" descr="/home/claude/regintel_ppt/assets/gemini_FFFFFF_25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7020" y="2231136"/>
            <a:ext cx="219456" cy="219456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9683496" y="259689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(Cloud)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Tier</a:t>
            </a:r>
            <a:endParaRPr lang="en-US" sz="950" dirty="0"/>
          </a:p>
        </p:txBody>
      </p:sp>
      <p:sp>
        <p:nvSpPr>
          <p:cNvPr id="60" name="Shape 51"/>
          <p:cNvSpPr/>
          <p:nvPr/>
        </p:nvSpPr>
        <p:spPr>
          <a:xfrm>
            <a:off x="7040880" y="3493008"/>
            <a:ext cx="4645152" cy="2121408"/>
          </a:xfrm>
          <a:prstGeom prst="roundRect">
            <a:avLst>
              <a:gd name="adj" fmla="val 4310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1" name="Text 52"/>
          <p:cNvSpPr/>
          <p:nvPr/>
        </p:nvSpPr>
        <p:spPr>
          <a:xfrm>
            <a:off x="7296912" y="3657600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FAULT TOLERANCE</a:t>
            </a:r>
            <a:endParaRPr lang="en-US" sz="1050" dirty="0"/>
          </a:p>
        </p:txBody>
      </p:sp>
      <p:sp>
        <p:nvSpPr>
          <p:cNvPr id="62" name="Text 53"/>
          <p:cNvSpPr/>
          <p:nvPr/>
        </p:nvSpPr>
        <p:spPr>
          <a:xfrm>
            <a:off x="7296912" y="3886200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connection probing on every transaction</a:t>
            </a:r>
            <a:endParaRPr lang="en-US" sz="950" dirty="0"/>
          </a:p>
        </p:txBody>
      </p:sp>
      <p:sp>
        <p:nvSpPr>
          <p:cNvPr id="63" name="Shape 54"/>
          <p:cNvSpPr/>
          <p:nvPr/>
        </p:nvSpPr>
        <p:spPr>
          <a:xfrm>
            <a:off x="7296912" y="4334256"/>
            <a:ext cx="1746504" cy="960120"/>
          </a:xfrm>
          <a:prstGeom prst="roundRect">
            <a:avLst>
              <a:gd name="adj" fmla="val 7619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7950708" y="4443984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5" name="Image 7" descr="/home/claude/regintel_ppt/assets/pg_FFFFFF_25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0436" y="4553712"/>
            <a:ext cx="219456" cy="219456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7296912" y="491947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Primary</a:t>
            </a:r>
            <a:endParaRPr lang="en-US" sz="950" dirty="0"/>
          </a:p>
        </p:txBody>
      </p:sp>
      <p:sp>
        <p:nvSpPr>
          <p:cNvPr id="67" name="Shape 57"/>
          <p:cNvSpPr/>
          <p:nvPr/>
        </p:nvSpPr>
        <p:spPr>
          <a:xfrm>
            <a:off x="9098280" y="4814316"/>
            <a:ext cx="530352" cy="0"/>
          </a:xfrm>
          <a:prstGeom prst="line">
            <a:avLst/>
          </a:prstGeom>
          <a:noFill/>
          <a:ln w="19050">
            <a:solidFill>
              <a:srgbClr val="F5B85B"/>
            </a:solidFill>
            <a:prstDash val="dash"/>
            <a:tailEnd type="triangle"/>
          </a:ln>
        </p:spPr>
      </p:sp>
      <p:sp>
        <p:nvSpPr>
          <p:cNvPr id="68" name="Text 58"/>
          <p:cNvSpPr/>
          <p:nvPr/>
        </p:nvSpPr>
        <p:spPr>
          <a:xfrm>
            <a:off x="9043416" y="409651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F5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F5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800" dirty="0"/>
          </a:p>
        </p:txBody>
      </p:sp>
      <p:sp>
        <p:nvSpPr>
          <p:cNvPr id="69" name="Shape 59"/>
          <p:cNvSpPr/>
          <p:nvPr/>
        </p:nvSpPr>
        <p:spPr>
          <a:xfrm>
            <a:off x="9683496" y="4334256"/>
            <a:ext cx="1746504" cy="960120"/>
          </a:xfrm>
          <a:prstGeom prst="roundRect">
            <a:avLst>
              <a:gd name="adj" fmla="val 7619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10337292" y="4443984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1" name="Image 8" descr="/home/claude/regintel_ppt/assets/sqlite_FFFFFF_25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7020" y="4553712"/>
            <a:ext cx="219456" cy="219456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9683496" y="491947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</a:t>
            </a:r>
            <a:endParaRPr lang="en-US" sz="950" dirty="0"/>
          </a:p>
        </p:txBody>
      </p:sp>
      <p:sp>
        <p:nvSpPr>
          <p:cNvPr id="73" name="Shape 62"/>
          <p:cNvSpPr/>
          <p:nvPr/>
        </p:nvSpPr>
        <p:spPr>
          <a:xfrm>
            <a:off x="502920" y="5925312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0D1430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676656" y="5980176"/>
            <a:ext cx="347472" cy="34747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5" name="Image 9" descr="/home/claude/regintel_ppt/assets/ribbon_icon2_FFFFFF_25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" y="6067044"/>
            <a:ext cx="173736" cy="173736"/>
          </a:xfrm>
          <a:prstGeom prst="rect">
            <a:avLst/>
          </a:prstGeom>
        </p:spPr>
      </p:pic>
      <p:sp>
        <p:nvSpPr>
          <p:cNvPr id="76" name="Text 64"/>
          <p:cNvSpPr/>
          <p:nvPr/>
        </p:nvSpPr>
        <p:spPr>
          <a:xfrm>
            <a:off x="1170432" y="592531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Downtime Architecture</a:t>
            </a:r>
            <a:pPr indent="0" marL="0">
              <a:buNone/>
            </a:pPr>
            <a:r>
              <a:rPr lang="en-US" sz="12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guaranteed by tertiary mock fallbacks across every LLM and database call</a:t>
            </a:r>
            <a:endParaRPr lang="en-US" sz="1200" dirty="0"/>
          </a:p>
        </p:txBody>
      </p:sp>
      <p:pic>
        <p:nvPicPr>
          <p:cNvPr id="77" name="Image 10" descr="/home/claude/regintel_ppt/assets/footer_shield_5C6690_25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6547104"/>
            <a:ext cx="164592" cy="164592"/>
          </a:xfrm>
          <a:prstGeom prst="rect">
            <a:avLst/>
          </a:prstGeom>
        </p:spPr>
      </p:pic>
      <p:sp>
        <p:nvSpPr>
          <p:cNvPr id="78" name="Text 65"/>
          <p:cNvSpPr/>
          <p:nvPr/>
        </p:nvSpPr>
        <p:spPr>
          <a:xfrm>
            <a:off x="731520" y="6519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AI  ·  Raksha Cyber Hackathon</a:t>
            </a:r>
            <a:endParaRPr lang="en-US" sz="900" dirty="0"/>
          </a:p>
        </p:txBody>
      </p:sp>
      <p:sp>
        <p:nvSpPr>
          <p:cNvPr id="79" name="Text 66"/>
          <p:cNvSpPr/>
          <p:nvPr/>
        </p:nvSpPr>
        <p:spPr>
          <a:xfrm>
            <a:off x="10789920" y="6519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 &amp; Real-World 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0" cy="1438656"/>
          </a:xfrm>
          <a:prstGeom prst="roundRect">
            <a:avLst>
              <a:gd name="adj" fmla="val 6356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624584"/>
            <a:ext cx="530352" cy="530352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77800" dist="50800" dir="16200000">
              <a:srgbClr val="0E7490">
                <a:alpha val="55000"/>
              </a:srgbClr>
            </a:outerShdw>
          </a:effectLst>
        </p:spPr>
      </p:sp>
      <p:pic>
        <p:nvPicPr>
          <p:cNvPr id="6" name="Image 0" descr="/home/claude/regintel_ppt/assets/feat3_0_FFFFFF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17571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35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Swiggy-Style Tracking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645920"/>
            <a:ext cx="3474720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websocket-style tracking of a document's progression through every AI agent node.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773680"/>
            <a:ext cx="4572000" cy="1438656"/>
          </a:xfrm>
          <a:prstGeom prst="roundRect">
            <a:avLst>
              <a:gd name="adj" fmla="val 6356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3227832"/>
            <a:ext cx="530352" cy="53035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77800" dist="50800" dir="16200000">
              <a:srgbClr val="7C3AED">
                <a:alpha val="55000"/>
              </a:srgbClr>
            </a:outerShdw>
          </a:effectLst>
        </p:spPr>
      </p:sp>
      <p:pic>
        <p:nvPicPr>
          <p:cNvPr id="11" name="Image 1" descr="/home/claude/regintel_ppt/assets/feat3_1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36042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938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Auth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249168"/>
            <a:ext cx="3474720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16 staging environment blocks AI hallucinations from entering live queues without operator sign-off.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4376928"/>
            <a:ext cx="4572000" cy="1438656"/>
          </a:xfrm>
          <a:prstGeom prst="roundRect">
            <a:avLst>
              <a:gd name="adj" fmla="val 6356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4831080"/>
            <a:ext cx="530352" cy="530352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77800" dist="50800" dir="16200000">
              <a:srgbClr val="0E7490">
                <a:alpha val="55000"/>
              </a:srgbClr>
            </a:outerShdw>
          </a:effectLst>
        </p:spPr>
      </p:sp>
      <p:pic>
        <p:nvPicPr>
          <p:cNvPr id="16" name="Image 2" descr="/home/claude/regintel_ppt/assets/feat3_2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96366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541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MAP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4852416"/>
            <a:ext cx="3474720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dense banking jargon into novice-friendly action cards with separated steps and metrics.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257800" y="1170432"/>
            <a:ext cx="6428232" cy="4645152"/>
          </a:xfrm>
          <a:prstGeom prst="roundRect">
            <a:avLst>
              <a:gd name="adj" fmla="val 1969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22392" y="1335024"/>
            <a:ext cx="6099048" cy="365760"/>
          </a:xfrm>
          <a:prstGeom prst="roundRect">
            <a:avLst>
              <a:gd name="adj" fmla="val 17500"/>
            </a:avLst>
          </a:prstGeom>
          <a:solidFill>
            <a:srgbClr val="0D1430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568696" y="14813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Shape 17"/>
          <p:cNvSpPr/>
          <p:nvPr/>
        </p:nvSpPr>
        <p:spPr>
          <a:xfrm>
            <a:off x="5751576" y="1481328"/>
            <a:ext cx="91440" cy="91440"/>
          </a:xfrm>
          <a:prstGeom prst="ellipse">
            <a:avLst/>
          </a:prstGeom>
          <a:solidFill>
            <a:srgbClr val="F5B85B"/>
          </a:solidFill>
          <a:ln/>
        </p:spPr>
      </p:sp>
      <p:sp>
        <p:nvSpPr>
          <p:cNvPr id="23" name="Shape 18"/>
          <p:cNvSpPr/>
          <p:nvPr/>
        </p:nvSpPr>
        <p:spPr>
          <a:xfrm>
            <a:off x="5934456" y="148132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19"/>
          <p:cNvSpPr/>
          <p:nvPr/>
        </p:nvSpPr>
        <p:spPr>
          <a:xfrm>
            <a:off x="5422392" y="1335024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— Officer Dashboard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532120" y="1883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DOCUMENT TRACKING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760720" y="2487168"/>
            <a:ext cx="5422392" cy="0"/>
          </a:xfrm>
          <a:prstGeom prst="line">
            <a:avLst/>
          </a:prstGeom>
          <a:noFill/>
          <a:ln w="38100">
            <a:solidFill>
              <a:srgbClr val="1B2546"/>
            </a:solidFill>
            <a:prstDash val="solid"/>
            <a:tailEnd type="none"/>
          </a:ln>
        </p:spPr>
      </p:sp>
      <p:sp>
        <p:nvSpPr>
          <p:cNvPr id="27" name="Shape 22"/>
          <p:cNvSpPr/>
          <p:nvPr/>
        </p:nvSpPr>
        <p:spPr>
          <a:xfrm>
            <a:off x="5760720" y="2487168"/>
            <a:ext cx="361492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none"/>
          </a:ln>
        </p:spPr>
      </p:sp>
      <p:sp>
        <p:nvSpPr>
          <p:cNvPr id="28" name="Shape 23"/>
          <p:cNvSpPr/>
          <p:nvPr/>
        </p:nvSpPr>
        <p:spPr>
          <a:xfrm>
            <a:off x="5641848" y="2368296"/>
            <a:ext cx="237744" cy="23774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16636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449312" y="2368296"/>
            <a:ext cx="237744" cy="23774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973824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9220200" y="2331720"/>
            <a:ext cx="310896" cy="31089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6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8781288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11064240" y="2368296"/>
            <a:ext cx="237744" cy="237744"/>
          </a:xfrm>
          <a:prstGeom prst="ellipse">
            <a:avLst/>
          </a:prstGeom>
          <a:solidFill>
            <a:srgbClr val="0D1430"/>
          </a:solidFill>
          <a:ln w="12700">
            <a:solidFill>
              <a:srgbClr val="5C669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588752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532120" y="2944368"/>
            <a:ext cx="5879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4 — awaiting officer validation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532120" y="33284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RISK HEATMAP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532120" y="36210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629400" y="362102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/>
        </p:spPr>
      </p:sp>
      <p:sp>
        <p:nvSpPr>
          <p:cNvPr id="40" name="Shape 35"/>
          <p:cNvSpPr/>
          <p:nvPr/>
        </p:nvSpPr>
        <p:spPr>
          <a:xfrm>
            <a:off x="7397496" y="362102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EF6A3D"/>
          </a:solidFill>
          <a:ln/>
        </p:spPr>
      </p:sp>
      <p:sp>
        <p:nvSpPr>
          <p:cNvPr id="41" name="Shape 36"/>
          <p:cNvSpPr/>
          <p:nvPr/>
        </p:nvSpPr>
        <p:spPr>
          <a:xfrm>
            <a:off x="8165592" y="362102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/>
        </p:spPr>
      </p:sp>
      <p:sp>
        <p:nvSpPr>
          <p:cNvPr id="42" name="Shape 37"/>
          <p:cNvSpPr/>
          <p:nvPr/>
        </p:nvSpPr>
        <p:spPr>
          <a:xfrm>
            <a:off x="8933688" y="362102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F5B85B"/>
          </a:solidFill>
          <a:ln/>
        </p:spPr>
      </p:sp>
      <p:sp>
        <p:nvSpPr>
          <p:cNvPr id="43" name="Shape 38"/>
          <p:cNvSpPr/>
          <p:nvPr/>
        </p:nvSpPr>
        <p:spPr>
          <a:xfrm>
            <a:off x="9701784" y="362102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EF6A3D"/>
          </a:solidFill>
          <a:ln/>
        </p:spPr>
      </p:sp>
      <p:sp>
        <p:nvSpPr>
          <p:cNvPr id="44" name="Shape 39"/>
          <p:cNvSpPr/>
          <p:nvPr/>
        </p:nvSpPr>
        <p:spPr>
          <a:xfrm>
            <a:off x="10469880" y="362102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/>
        </p:spPr>
      </p:sp>
      <p:sp>
        <p:nvSpPr>
          <p:cNvPr id="45" name="Text 40"/>
          <p:cNvSpPr/>
          <p:nvPr/>
        </p:nvSpPr>
        <p:spPr>
          <a:xfrm>
            <a:off x="5532120" y="3986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6629400" y="398678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A5A0"/>
          </a:solidFill>
          <a:ln/>
        </p:spPr>
      </p:sp>
      <p:sp>
        <p:nvSpPr>
          <p:cNvPr id="47" name="Shape 42"/>
          <p:cNvSpPr/>
          <p:nvPr/>
        </p:nvSpPr>
        <p:spPr>
          <a:xfrm>
            <a:off x="7397496" y="398678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F5B85B"/>
          </a:solidFill>
          <a:ln/>
        </p:spPr>
      </p:sp>
      <p:sp>
        <p:nvSpPr>
          <p:cNvPr id="48" name="Shape 43"/>
          <p:cNvSpPr/>
          <p:nvPr/>
        </p:nvSpPr>
        <p:spPr>
          <a:xfrm>
            <a:off x="8165592" y="398678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A5A0"/>
          </a:solidFill>
          <a:ln/>
        </p:spPr>
      </p:sp>
      <p:sp>
        <p:nvSpPr>
          <p:cNvPr id="49" name="Shape 44"/>
          <p:cNvSpPr/>
          <p:nvPr/>
        </p:nvSpPr>
        <p:spPr>
          <a:xfrm>
            <a:off x="8933688" y="398678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A5A0"/>
          </a:solidFill>
          <a:ln/>
        </p:spPr>
      </p:sp>
      <p:sp>
        <p:nvSpPr>
          <p:cNvPr id="50" name="Shape 45"/>
          <p:cNvSpPr/>
          <p:nvPr/>
        </p:nvSpPr>
        <p:spPr>
          <a:xfrm>
            <a:off x="9701784" y="398678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F5B85B"/>
          </a:solidFill>
          <a:ln/>
        </p:spPr>
      </p:sp>
      <p:sp>
        <p:nvSpPr>
          <p:cNvPr id="51" name="Shape 46"/>
          <p:cNvSpPr/>
          <p:nvPr/>
        </p:nvSpPr>
        <p:spPr>
          <a:xfrm>
            <a:off x="10469880" y="398678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A5A0"/>
          </a:solidFill>
          <a:ln/>
        </p:spPr>
      </p:sp>
      <p:sp>
        <p:nvSpPr>
          <p:cNvPr id="52" name="Text 47"/>
          <p:cNvSpPr/>
          <p:nvPr/>
        </p:nvSpPr>
        <p:spPr>
          <a:xfrm>
            <a:off x="5532120" y="43525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Ops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6629400" y="435254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F5B85B"/>
          </a:solidFill>
          <a:ln/>
        </p:spPr>
      </p:sp>
      <p:sp>
        <p:nvSpPr>
          <p:cNvPr id="54" name="Shape 49"/>
          <p:cNvSpPr/>
          <p:nvPr/>
        </p:nvSpPr>
        <p:spPr>
          <a:xfrm>
            <a:off x="7397496" y="435254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EF6A3D"/>
          </a:solidFill>
          <a:ln/>
        </p:spPr>
      </p:sp>
      <p:sp>
        <p:nvSpPr>
          <p:cNvPr id="55" name="Shape 50"/>
          <p:cNvSpPr/>
          <p:nvPr/>
        </p:nvSpPr>
        <p:spPr>
          <a:xfrm>
            <a:off x="8165592" y="435254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F5B85B"/>
          </a:solidFill>
          <a:ln/>
        </p:spPr>
      </p:sp>
      <p:sp>
        <p:nvSpPr>
          <p:cNvPr id="56" name="Shape 51"/>
          <p:cNvSpPr/>
          <p:nvPr/>
        </p:nvSpPr>
        <p:spPr>
          <a:xfrm>
            <a:off x="8933688" y="435254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EF6A3D"/>
          </a:solidFill>
          <a:ln/>
        </p:spPr>
      </p:sp>
      <p:sp>
        <p:nvSpPr>
          <p:cNvPr id="57" name="Shape 52"/>
          <p:cNvSpPr/>
          <p:nvPr/>
        </p:nvSpPr>
        <p:spPr>
          <a:xfrm>
            <a:off x="9701784" y="435254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F5B85B"/>
          </a:solidFill>
          <a:ln/>
        </p:spPr>
      </p:sp>
      <p:sp>
        <p:nvSpPr>
          <p:cNvPr id="58" name="Shape 53"/>
          <p:cNvSpPr/>
          <p:nvPr/>
        </p:nvSpPr>
        <p:spPr>
          <a:xfrm>
            <a:off x="10469880" y="435254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EF6A3D"/>
          </a:solidFill>
          <a:ln/>
        </p:spPr>
      </p:sp>
      <p:sp>
        <p:nvSpPr>
          <p:cNvPr id="59" name="Text 54"/>
          <p:cNvSpPr/>
          <p:nvPr/>
        </p:nvSpPr>
        <p:spPr>
          <a:xfrm>
            <a:off x="5532120" y="47183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6629400" y="471830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61" name="Shape 56"/>
          <p:cNvSpPr/>
          <p:nvPr/>
        </p:nvSpPr>
        <p:spPr>
          <a:xfrm>
            <a:off x="7397496" y="471830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A5A0"/>
          </a:solidFill>
          <a:ln/>
        </p:spPr>
      </p:sp>
      <p:sp>
        <p:nvSpPr>
          <p:cNvPr id="62" name="Shape 57"/>
          <p:cNvSpPr/>
          <p:nvPr/>
        </p:nvSpPr>
        <p:spPr>
          <a:xfrm>
            <a:off x="8165592" y="471830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63" name="Shape 58"/>
          <p:cNvSpPr/>
          <p:nvPr/>
        </p:nvSpPr>
        <p:spPr>
          <a:xfrm>
            <a:off x="8933688" y="471830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A5A0"/>
          </a:solidFill>
          <a:ln/>
        </p:spPr>
      </p:sp>
      <p:sp>
        <p:nvSpPr>
          <p:cNvPr id="64" name="Shape 59"/>
          <p:cNvSpPr/>
          <p:nvPr/>
        </p:nvSpPr>
        <p:spPr>
          <a:xfrm>
            <a:off x="9701784" y="471830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65" name="Shape 60"/>
          <p:cNvSpPr/>
          <p:nvPr/>
        </p:nvSpPr>
        <p:spPr>
          <a:xfrm>
            <a:off x="10469880" y="4718304"/>
            <a:ext cx="713232" cy="310896"/>
          </a:xfrm>
          <a:prstGeom prst="roundRect">
            <a:avLst>
              <a:gd name="adj" fmla="val 11765"/>
            </a:avLst>
          </a:prstGeom>
          <a:solidFill>
            <a:srgbClr val="0E7490"/>
          </a:solidFill>
          <a:ln/>
        </p:spPr>
      </p:sp>
      <p:sp>
        <p:nvSpPr>
          <p:cNvPr id="66" name="Shape 61"/>
          <p:cNvSpPr/>
          <p:nvPr/>
        </p:nvSpPr>
        <p:spPr>
          <a:xfrm>
            <a:off x="6629400" y="51389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/>
        </p:spPr>
      </p:sp>
      <p:sp>
        <p:nvSpPr>
          <p:cNvPr id="67" name="Text 62"/>
          <p:cNvSpPr/>
          <p:nvPr/>
        </p:nvSpPr>
        <p:spPr>
          <a:xfrm>
            <a:off x="6830568" y="5111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70" dirty="0"/>
          </a:p>
        </p:txBody>
      </p:sp>
      <p:sp>
        <p:nvSpPr>
          <p:cNvPr id="68" name="Shape 63"/>
          <p:cNvSpPr/>
          <p:nvPr/>
        </p:nvSpPr>
        <p:spPr>
          <a:xfrm>
            <a:off x="7507224" y="51389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EA5A0"/>
          </a:solidFill>
          <a:ln/>
        </p:spPr>
      </p:sp>
      <p:sp>
        <p:nvSpPr>
          <p:cNvPr id="69" name="Text 64"/>
          <p:cNvSpPr/>
          <p:nvPr/>
        </p:nvSpPr>
        <p:spPr>
          <a:xfrm>
            <a:off x="7708392" y="5111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</a:t>
            </a:r>
            <a:endParaRPr lang="en-US" sz="770" dirty="0"/>
          </a:p>
        </p:txBody>
      </p:sp>
      <p:sp>
        <p:nvSpPr>
          <p:cNvPr id="70" name="Shape 65"/>
          <p:cNvSpPr/>
          <p:nvPr/>
        </p:nvSpPr>
        <p:spPr>
          <a:xfrm>
            <a:off x="8385048" y="51389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5B85B"/>
          </a:solidFill>
          <a:ln/>
        </p:spPr>
      </p:sp>
      <p:sp>
        <p:nvSpPr>
          <p:cNvPr id="71" name="Text 66"/>
          <p:cNvSpPr/>
          <p:nvPr/>
        </p:nvSpPr>
        <p:spPr>
          <a:xfrm>
            <a:off x="8586216" y="5111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770" dirty="0"/>
          </a:p>
        </p:txBody>
      </p:sp>
      <p:sp>
        <p:nvSpPr>
          <p:cNvPr id="72" name="Shape 67"/>
          <p:cNvSpPr/>
          <p:nvPr/>
        </p:nvSpPr>
        <p:spPr>
          <a:xfrm>
            <a:off x="9262872" y="51389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F6A3D"/>
          </a:solidFill>
          <a:ln/>
        </p:spPr>
      </p:sp>
      <p:sp>
        <p:nvSpPr>
          <p:cNvPr id="73" name="Text 68"/>
          <p:cNvSpPr/>
          <p:nvPr/>
        </p:nvSpPr>
        <p:spPr>
          <a:xfrm>
            <a:off x="9464040" y="5111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70" dirty="0"/>
          </a:p>
        </p:txBody>
      </p:sp>
      <p:sp>
        <p:nvSpPr>
          <p:cNvPr id="74" name="Shape 69"/>
          <p:cNvSpPr/>
          <p:nvPr/>
        </p:nvSpPr>
        <p:spPr>
          <a:xfrm>
            <a:off x="10140696" y="51389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75" name="Text 70"/>
          <p:cNvSpPr/>
          <p:nvPr/>
        </p:nvSpPr>
        <p:spPr>
          <a:xfrm>
            <a:off x="10341864" y="5111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70" dirty="0"/>
          </a:p>
        </p:txBody>
      </p:sp>
      <p:sp>
        <p:nvSpPr>
          <p:cNvPr id="76" name="Shape 71"/>
          <p:cNvSpPr/>
          <p:nvPr/>
        </p:nvSpPr>
        <p:spPr>
          <a:xfrm>
            <a:off x="502920" y="5925312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0D1430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676656" y="5980176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8" name="Image 3" descr="/home/claude/regintel_ppt/assets/ribbon_icon3_FFFFFF_25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6067044"/>
            <a:ext cx="173736" cy="173736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1170432" y="592531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Reduction</a:t>
            </a:r>
            <a:pPr indent="0" marL="0">
              <a:buNone/>
            </a:pPr>
            <a:r>
              <a:rPr lang="en-US" sz="12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compliance reading &amp; action-mapping time per officer, per circular</a:t>
            </a:r>
            <a:endParaRPr lang="en-US" sz="1200" dirty="0"/>
          </a:p>
        </p:txBody>
      </p:sp>
      <p:pic>
        <p:nvPicPr>
          <p:cNvPr id="80" name="Image 4" descr="/home/claude/regintel_ppt/assets/footer_shield_5C6690_25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547104"/>
            <a:ext cx="164592" cy="164592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731520" y="6519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AI  ·  Raksha Cyber Hackathon</a:t>
            </a:r>
            <a:endParaRPr lang="en-US" sz="900" dirty="0"/>
          </a:p>
        </p:txBody>
      </p:sp>
      <p:sp>
        <p:nvSpPr>
          <p:cNvPr id="82" name="Text 75"/>
          <p:cNvSpPr/>
          <p:nvPr/>
        </p:nvSpPr>
        <p:spPr>
          <a:xfrm>
            <a:off x="10789920" y="6519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EDGE-CASE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Capabilities &amp; Security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434840" cy="4645152"/>
          </a:xfrm>
          <a:prstGeom prst="roundRect">
            <a:avLst>
              <a:gd name="adj" fmla="val 2062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533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AUDITOR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5910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human evidence-checkers with AI vision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1540" y="1956816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00884" y="2048256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9" name="Image 0" descr="/home/claude/regintel_ppt/assets/funnel_0_FFFFFF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12" y="215798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8700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Uploads Evidence Photo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20340" y="2798064"/>
            <a:ext cx="0" cy="91440"/>
          </a:xfrm>
          <a:prstGeom prst="line">
            <a:avLst/>
          </a:prstGeom>
          <a:noFill/>
          <a:ln w="19050">
            <a:solidFill>
              <a:srgbClr val="F5B8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143000" y="2889504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00884" y="2980944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1" descr="/home/claude/regintel_ppt/assets/funnel_1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612" y="309067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4381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Scan — LLaVA / Gemini Vision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20340" y="3730752"/>
            <a:ext cx="0" cy="91440"/>
          </a:xfrm>
          <a:prstGeom prst="line">
            <a:avLst/>
          </a:prstGeom>
          <a:noFill/>
          <a:ln w="19050">
            <a:solidFill>
              <a:srgbClr val="F5B85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1394460" y="3822192"/>
            <a:ext cx="265176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500884" y="3913632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9" name="Image 2" descr="/home/claude/regintel_ppt/assets/funnel_2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612" y="402336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31620" y="4370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Match Scoring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720340" y="4663440"/>
            <a:ext cx="0" cy="91440"/>
          </a:xfrm>
          <a:prstGeom prst="line">
            <a:avLst/>
          </a:prstGeom>
          <a:noFill/>
          <a:ln w="19050">
            <a:solidFill>
              <a:srgbClr val="F5B85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1645920" y="475488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111833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500884" y="484632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3" descr="/home/claude/regintel_ppt/assets/funnel_3_FFFFFF_25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612" y="495604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5303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Verdict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120640" y="1170432"/>
            <a:ext cx="6565392" cy="2121408"/>
          </a:xfrm>
          <a:prstGeom prst="roundRect">
            <a:avLst>
              <a:gd name="adj" fmla="val 4310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376672" y="1371600"/>
            <a:ext cx="457200" cy="457200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177800" dist="50800" dir="16200000">
              <a:srgbClr val="B91C1C">
                <a:alpha val="55000"/>
              </a:srgbClr>
            </a:outerShdw>
          </a:effectLst>
        </p:spPr>
      </p:sp>
      <p:pic>
        <p:nvPicPr>
          <p:cNvPr id="28" name="Image 4" descr="/home/claude/regintel_ppt/assets/antifraud_FFFFFF_25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0972" y="148590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961888" y="1353312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ESCALATION ENGINE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961888" y="1609344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are limited to 3 evidence-upload attempts per regulation.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394960" y="2039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Per-regulation attempts: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7269480" y="205740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580376" y="205740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891272" y="205740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75320" y="2039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max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39496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failures across platform: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7818120" y="2423160"/>
            <a:ext cx="182880" cy="18288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065008" y="2423160"/>
            <a:ext cx="182880" cy="18288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311896" y="2423160"/>
            <a:ext cx="182880" cy="18288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558784" y="2423160"/>
            <a:ext cx="182880" cy="18288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805672" y="2423160"/>
            <a:ext cx="182880" cy="18288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052560" y="242316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394960" y="2734056"/>
            <a:ext cx="601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permanent ban + Admin alert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5120640" y="3493008"/>
            <a:ext cx="6565392" cy="2121408"/>
          </a:xfrm>
          <a:prstGeom prst="roundRect">
            <a:avLst>
              <a:gd name="adj" fmla="val 4310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5376672" y="369417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77800" dist="50800" dir="16200000">
              <a:srgbClr val="7C3AED">
                <a:alpha val="55000"/>
              </a:srgbClr>
            </a:outerShdw>
          </a:effectLst>
        </p:spPr>
      </p:sp>
      <p:pic>
        <p:nvPicPr>
          <p:cNvPr id="46" name="Image 5" descr="/home/claude/regintel_ppt/assets/priority_FFFFFF_25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0972" y="3808476"/>
            <a:ext cx="228600" cy="2286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961888" y="3675888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QUEUEING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5961888" y="393192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grade each circular's severity 1–10; critical breaches jump the queue instantly.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5394960" y="4700016"/>
            <a:ext cx="1203350" cy="2011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0" name="Shape 42"/>
          <p:cNvSpPr/>
          <p:nvPr/>
        </p:nvSpPr>
        <p:spPr>
          <a:xfrm>
            <a:off x="6598310" y="4700016"/>
            <a:ext cx="1203350" cy="201168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51" name="Shape 43"/>
          <p:cNvSpPr/>
          <p:nvPr/>
        </p:nvSpPr>
        <p:spPr>
          <a:xfrm>
            <a:off x="7801661" y="4700016"/>
            <a:ext cx="1203350" cy="201168"/>
          </a:xfrm>
          <a:prstGeom prst="rect">
            <a:avLst/>
          </a:prstGeom>
          <a:solidFill>
            <a:srgbClr val="F5B85B"/>
          </a:solidFill>
          <a:ln/>
        </p:spPr>
      </p:sp>
      <p:sp>
        <p:nvSpPr>
          <p:cNvPr id="52" name="Shape 44"/>
          <p:cNvSpPr/>
          <p:nvPr/>
        </p:nvSpPr>
        <p:spPr>
          <a:xfrm>
            <a:off x="9005011" y="4700016"/>
            <a:ext cx="1203350" cy="201168"/>
          </a:xfrm>
          <a:prstGeom prst="rect">
            <a:avLst/>
          </a:prstGeom>
          <a:solidFill>
            <a:srgbClr val="EF6A3D"/>
          </a:solidFill>
          <a:ln/>
        </p:spPr>
      </p:sp>
      <p:sp>
        <p:nvSpPr>
          <p:cNvPr id="53" name="Shape 45"/>
          <p:cNvSpPr/>
          <p:nvPr/>
        </p:nvSpPr>
        <p:spPr>
          <a:xfrm>
            <a:off x="10208362" y="4700016"/>
            <a:ext cx="120335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4" name="Text 46"/>
          <p:cNvSpPr/>
          <p:nvPr/>
        </p:nvSpPr>
        <p:spPr>
          <a:xfrm>
            <a:off x="5349240" y="4919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9765792" y="49194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Critical Cyber Breach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 rot="10800000">
            <a:off x="10625694" y="4581144"/>
            <a:ext cx="128016" cy="10972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7" name="Text 49"/>
          <p:cNvSpPr/>
          <p:nvPr/>
        </p:nvSpPr>
        <p:spPr>
          <a:xfrm>
            <a:off x="10232502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9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502920" y="5925312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0D1430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76656" y="5980176"/>
            <a:ext cx="347472" cy="347472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60" name="Image 6" descr="/home/claude/regintel_ppt/assets/ribbon_icon4_FFFFFF_25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" y="6067044"/>
            <a:ext cx="173736" cy="173736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1170432" y="592531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Evidence Pipeline</a:t>
            </a:r>
            <a:pPr indent="0" marL="0">
              <a:buNone/>
            </a:pPr>
            <a:r>
              <a:rPr lang="en-US" sz="120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photo is algorithmically graded, every officer account is fraud-monitored</a:t>
            </a:r>
            <a:endParaRPr lang="en-US" sz="1200" dirty="0"/>
          </a:p>
        </p:txBody>
      </p:sp>
      <p:pic>
        <p:nvPicPr>
          <p:cNvPr id="62" name="Image 7" descr="/home/claude/regintel_ppt/assets/footer_shield_5C6690_25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547104"/>
            <a:ext cx="164592" cy="164592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731520" y="6519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AI  ·  Raksha Cyber Hackathon</a:t>
            </a:r>
            <a:endParaRPr lang="en-US" sz="900" dirty="0"/>
          </a:p>
        </p:txBody>
      </p:sp>
      <p:sp>
        <p:nvSpPr>
          <p:cNvPr id="64" name="Text 54"/>
          <p:cNvSpPr/>
          <p:nvPr/>
        </p:nvSpPr>
        <p:spPr>
          <a:xfrm>
            <a:off x="10789920" y="6519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USP &amp; HACKATHON 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RegIntel AI Wins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98804" y="1905853"/>
            <a:ext cx="2191100" cy="494447"/>
          </a:xfrm>
          <a:prstGeom prst="line">
            <a:avLst/>
          </a:prstGeom>
          <a:noFill/>
          <a:ln w="15875">
            <a:solidFill>
              <a:srgbClr val="1B2546"/>
            </a:solidFill>
            <a:prstDash val="dash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9904" y="1905853"/>
            <a:ext cx="2191100" cy="494447"/>
          </a:xfrm>
          <a:prstGeom prst="line">
            <a:avLst/>
          </a:prstGeom>
          <a:noFill/>
          <a:ln w="15875">
            <a:solidFill>
              <a:srgbClr val="1B2546"/>
            </a:solidFill>
            <a:prstDash val="dash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089904" y="954634"/>
            <a:ext cx="0" cy="1445666"/>
          </a:xfrm>
          <a:prstGeom prst="line">
            <a:avLst/>
          </a:prstGeom>
          <a:noFill/>
          <a:ln w="15875">
            <a:solidFill>
              <a:srgbClr val="1B2546"/>
            </a:solidFill>
            <a:prstDash val="dash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522976" y="1833372"/>
            <a:ext cx="1133856" cy="1133856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77800" dist="50800" dir="16200000">
              <a:srgbClr val="7C3AED">
                <a:alpha val="55000"/>
              </a:srgbClr>
            </a:outerShdw>
          </a:effectLst>
        </p:spPr>
      </p:sp>
      <p:pic>
        <p:nvPicPr>
          <p:cNvPr id="8" name="Image 0" descr="/home/claude/regintel_ppt/assets/hero_shield_FFFFFF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16836"/>
            <a:ext cx="566928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76672" y="1687068"/>
            <a:ext cx="1426464" cy="1426464"/>
          </a:xfrm>
          <a:prstGeom prst="ellipse">
            <a:avLst/>
          </a:prstGeom>
          <a:ln w="15875">
            <a:solidFill>
              <a:srgbClr val="22D3EE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084064" y="31135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RegIntel AI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26864" y="33695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shielding banks from fines &amp; breaches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55804" y="1471513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83820" y="1695541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4" name="Image 1" descr="/home/claude/regintel_ppt/assets/pillar_Cust_FFFFFF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976" y="1800697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7596" y="1581241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138004" y="1471513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6020" y="1695541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8" name="Image 2" descr="/home/claude/regintel_ppt/assets/pillar_Fail_FFFFFF_2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176" y="1800697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59796" y="1581241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Dual-LLM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46904" y="520294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74920" y="74432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2" name="Image 3" descr="/home/claude/regintel_ppt/assets/pillar_Omni_FFFFFF_25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076" y="849478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68696" y="630022"/>
            <a:ext cx="1554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Omni-Search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822192"/>
            <a:ext cx="5362956" cy="1298448"/>
          </a:xfrm>
          <a:prstGeom prst="roundRect">
            <a:avLst>
              <a:gd name="adj" fmla="val 7042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4005072"/>
            <a:ext cx="420624" cy="420624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26" name="Image 4" descr="/home/claude/regintel_ppt/assets/problem_FFFFFF_25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411022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986784"/>
            <a:ext cx="38999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280160" y="4261104"/>
            <a:ext cx="3854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fail compliance audits because regulatory interpretation is still a slow, manual, error-prone process.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0468" y="3822192"/>
            <a:ext cx="5362956" cy="1298448"/>
          </a:xfrm>
          <a:prstGeom prst="roundRect">
            <a:avLst>
              <a:gd name="adj" fmla="val 7042"/>
            </a:avLst>
          </a:prstGeom>
          <a:solidFill>
            <a:srgbClr val="0E1530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40780" y="400507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1" name="Image 5" descr="/home/claude/regintel_ppt/assets/solution_FFFFFF_25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4110228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7708" y="3986784"/>
            <a:ext cx="38999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807708" y="4261104"/>
            <a:ext cx="3854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7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AI automates the entire obligation lifecycle end-to-end — ingest, interpret, assign, validate — autonomously.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02920" y="5285232"/>
            <a:ext cx="11183112" cy="1005840"/>
          </a:xfrm>
          <a:prstGeom prst="roundRect">
            <a:avLst>
              <a:gd name="adj" fmla="val 9091"/>
            </a:avLst>
          </a:prstGeom>
          <a:solidFill>
            <a:srgbClr val="151033"/>
          </a:solidFill>
          <a:ln w="12700">
            <a:solidFill>
              <a:srgbClr val="232F5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31520" y="5532120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77800" dist="50800" dir="16200000">
              <a:srgbClr val="7C3AED">
                <a:alpha val="55000"/>
              </a:srgbClr>
            </a:outerShdw>
          </a:effectLst>
        </p:spPr>
      </p:sp>
      <p:pic>
        <p:nvPicPr>
          <p:cNvPr id="36" name="Image 6" descr="/home/claude/regintel_ppt/assets/relevance_FFFFFF_25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566013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4315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 CYBER RELEVANCE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417320" y="568756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enforcing banking cybersecurity compliance autonomously, RegIntel AI closes the operational gap that leads to national financial-infrastructure breaches.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9235440" y="54132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&lt;48</a:t>
            </a:r>
            <a:endParaRPr lang="en-US" sz="3000" dirty="0"/>
          </a:p>
        </p:txBody>
      </p:sp>
      <p:sp>
        <p:nvSpPr>
          <p:cNvPr id="40" name="Text 31"/>
          <p:cNvSpPr/>
          <p:nvPr/>
        </p:nvSpPr>
        <p:spPr>
          <a:xfrm>
            <a:off x="9235440" y="58887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BUILD TIME</a:t>
            </a:r>
            <a:endParaRPr lang="en-US" sz="900" dirty="0"/>
          </a:p>
        </p:txBody>
      </p:sp>
      <p:pic>
        <p:nvPicPr>
          <p:cNvPr id="41" name="Image 7" descr="/home/claude/regintel_ppt/assets/footer_shield_5C6690_25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547104"/>
            <a:ext cx="164592" cy="16459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1520" y="6519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RegIntel AI  ·  Raksha Cyber Hackathon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0789920" y="6519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RegIntel AI - Raksha Cyber Hackathon</dc:title>
  <dc:subject>PptxGenJS Presentation</dc:subject>
  <dc:creator>The Wise People</dc:creator>
  <cp:lastModifiedBy>The Wise People</cp:lastModifiedBy>
  <cp:revision>1</cp:revision>
  <dcterms:created xsi:type="dcterms:W3CDTF">2026-06-30T08:44:26Z</dcterms:created>
  <dcterms:modified xsi:type="dcterms:W3CDTF">2026-06-30T08:44:26Z</dcterms:modified>
</cp:coreProperties>
</file>